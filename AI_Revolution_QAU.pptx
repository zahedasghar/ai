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128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 introducing the AI Revolution course. Set an inspiring and welcoming 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learning journey covering AI understanding and practical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Real-world success stories and transformations showing tangible AI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imperative for AI adoption - emphasizing that those who use AI will have competitive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definition of AI and its fundamental capabilities like learning, reasoning, and decision-making.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of AI in everyday life that attendees already interact with regularly.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of major AI achievements from AlphaGo to modern climate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Explanation of machine learning process from data to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main types of machine learning with practical examples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Natural language processing capabilities and real-world applications in communication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to generative AI's creative capabilities and underlying technology.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AI tools available today across text, image, and specialized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differences between traditional analytical AI and generative creative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Large language models explained with examples of leading LLMs in the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Shifting mindset from AI fear to AI empowerment and partnership.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AI democratizes expertise across all professional roles and skill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 AI use including awareness of risks and protection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Historical context of technological revolutions and AI's exponential growth trajectory.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exercise demonstrating AI's ability to adapt communication to different audiences.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Professional application exercises relevant to public policy and government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Curated learning resources and tools for continued AI education and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 emphasizing AI as collaborative tool and the importance of starting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slide with contact information and inspiring call 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3989" y="743545"/>
            <a:ext cx="775874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72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21138" y="1787426"/>
            <a:ext cx="7101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00"/>
              </a:lnSpc>
              <a:spcAft>
                <a:spcPts val="15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the AI Revolution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2036255" y="2473226"/>
            <a:ext cx="5071491" cy="67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67"/>
              </a:lnSpc>
              <a:spcAft>
                <a:spcPts val="30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Made Simple: Your Journey into Tomorrow's Technology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24965" y="3569494"/>
            <a:ext cx="22939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Dr. Zahid Asghar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21047" y="4022824"/>
            <a:ext cx="370175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Quaid-i-Azam University, Islamabad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6255" y="428625"/>
            <a:ext cx="50714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Your Learning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6750" y="1095375"/>
            <a:ext cx="3789045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spcAft>
                <a:spcPts val="1350"/>
              </a:spcAft>
              <a:buNone/>
            </a:pPr>
            <a:r>
              <a:rPr lang="en-US" sz="19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AI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66750" y="1716286"/>
            <a:ext cx="3714750" cy="1263402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217"/>
              </a:lnSpc>
              <a:spcAft>
                <a:spcPts val="900"/>
              </a:spcAft>
              <a:buSzPct val="100000"/>
              <a:buChar char="•"/>
            </a:pPr>
            <a:r>
              <a:rPr lang="en-US" sz="14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AI really?</a:t>
            </a:r>
            <a:endParaRPr lang="en-US" sz="1425" dirty="0"/>
          </a:p>
          <a:p>
            <a:pPr marL="85725" indent="-85725" algn="l">
              <a:lnSpc>
                <a:spcPts val="2217"/>
              </a:lnSpc>
              <a:spcAft>
                <a:spcPts val="900"/>
              </a:spcAft>
              <a:buSzPct val="100000"/>
              <a:buChar char="•"/>
            </a:pPr>
            <a:r>
              <a:rPr lang="en-US" sz="14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AI think?</a:t>
            </a:r>
            <a:endParaRPr lang="en-US" sz="1425" dirty="0"/>
          </a:p>
          <a:p>
            <a:pPr marL="85725" indent="-85725" algn="l">
              <a:lnSpc>
                <a:spcPts val="2217"/>
              </a:lnSpc>
              <a:spcAft>
                <a:spcPts val="900"/>
              </a:spcAft>
              <a:buSzPct val="100000"/>
              <a:buChar char="•"/>
            </a:pPr>
            <a:r>
              <a:rPr lang="en-US" sz="14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unleashed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4762500" y="1095375"/>
            <a:ext cx="3789045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spcAft>
                <a:spcPts val="1350"/>
              </a:spcAft>
              <a:buNone/>
            </a:pPr>
            <a:r>
              <a:rPr lang="en-US" sz="19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Applications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762500" y="1716286"/>
            <a:ext cx="3714750" cy="1263402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217"/>
              </a:lnSpc>
              <a:spcAft>
                <a:spcPts val="900"/>
              </a:spcAft>
              <a:buSzPct val="100000"/>
              <a:buChar char="•"/>
            </a:pPr>
            <a:r>
              <a:rPr lang="en-US" sz="14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transformations</a:t>
            </a:r>
            <a:endParaRPr lang="en-US" sz="1425" dirty="0"/>
          </a:p>
          <a:p>
            <a:pPr marL="85725" indent="-85725" algn="l">
              <a:lnSpc>
                <a:spcPts val="2217"/>
              </a:lnSpc>
              <a:spcAft>
                <a:spcPts val="900"/>
              </a:spcAft>
              <a:buSzPct val="100000"/>
              <a:buChar char="•"/>
            </a:pPr>
            <a:r>
              <a:rPr lang="en-US" sz="14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AI tools</a:t>
            </a:r>
            <a:endParaRPr lang="en-US" sz="1425" dirty="0"/>
          </a:p>
          <a:p>
            <a:pPr marL="85725" indent="-85725" algn="l">
              <a:lnSpc>
                <a:spcPts val="2217"/>
              </a:lnSpc>
              <a:spcAft>
                <a:spcPts val="900"/>
              </a:spcAft>
              <a:buSzPct val="100000"/>
              <a:buChar char="•"/>
            </a:pPr>
            <a:r>
              <a:rPr lang="en-US" sz="14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usage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666750" y="3217813"/>
            <a:ext cx="7810500" cy="68580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85800" y="3217813"/>
            <a:ext cx="0" cy="685800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876300" y="3427363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By the end, you'll see AI as your ally, not a mystery!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28625"/>
            <a:ext cx="546011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650"/>
              </a:spcAft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Real Impact from Real People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6750" y="981075"/>
            <a:ext cx="192366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Stories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24400" y="1270695"/>
            <a:ext cx="2555177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What AI Transforms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24400" y="1829395"/>
            <a:ext cx="3752850" cy="184011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1983"/>
              </a:lnSpc>
              <a:spcAft>
                <a:spcPts val="675"/>
              </a:spcAft>
              <a:buSzPct val="100000"/>
              <a:buChar char="•"/>
            </a:pP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Smart emails</a:t>
            </a:r>
            <a:endParaRPr lang="en-US" sz="1275" dirty="0"/>
          </a:p>
          <a:p>
            <a:pPr marL="85725" indent="-85725" algn="l">
              <a:lnSpc>
                <a:spcPts val="1983"/>
              </a:lnSpc>
              <a:spcAft>
                <a:spcPts val="675"/>
              </a:spcAft>
              <a:buSzPct val="100000"/>
              <a:buChar char="•"/>
            </a:pP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Instant insights</a:t>
            </a:r>
            <a:endParaRPr lang="en-US" sz="1275" dirty="0"/>
          </a:p>
          <a:p>
            <a:pPr marL="85725" indent="-85725" algn="l">
              <a:lnSpc>
                <a:spcPts val="1983"/>
              </a:lnSpc>
              <a:spcAft>
                <a:spcPts val="675"/>
              </a:spcAft>
              <a:buSzPct val="100000"/>
              <a:buChar char="•"/>
            </a:pP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Ideas to action</a:t>
            </a:r>
            <a:endParaRPr lang="en-US" sz="1275" dirty="0"/>
          </a:p>
          <a:p>
            <a:pPr marL="85725" indent="-85725" algn="l">
              <a:lnSpc>
                <a:spcPts val="1983"/>
              </a:lnSpc>
              <a:spcAft>
                <a:spcPts val="675"/>
              </a:spcAft>
              <a:buSzPct val="100000"/>
              <a:buChar char="•"/>
            </a:pP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10x faster</a:t>
            </a:r>
            <a:endParaRPr lang="en-US" sz="1275" dirty="0"/>
          </a:p>
          <a:p>
            <a:pPr marL="85725" indent="-85725" algn="l">
              <a:lnSpc>
                <a:spcPts val="1983"/>
              </a:lnSpc>
              <a:spcAft>
                <a:spcPts val="675"/>
              </a:spcAft>
              <a:buSzPct val="100000"/>
              <a:buChar char="•"/>
            </a:pP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AI partner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588645" y="4149626"/>
            <a:ext cx="7966710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25" i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fast can you adapt?</a:t>
            </a:r>
            <a:endParaRPr lang="en-US" sz="14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01716" y="777925"/>
            <a:ext cx="554056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Won't Replace You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838757" y="1501825"/>
            <a:ext cx="5466487" cy="46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67"/>
              </a:lnSpc>
              <a:spcAft>
                <a:spcPts val="3000"/>
              </a:spcAft>
              <a:buNone/>
            </a:pPr>
            <a:r>
              <a:rPr lang="en-US" sz="33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Someone Using AI Will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2898202" y="2386459"/>
            <a:ext cx="3347597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Harvard Business Review: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11117" y="2914055"/>
            <a:ext cx="712176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Bef>
                <a:spcPts val="300"/>
              </a:spcBef>
              <a:spcAft>
                <a:spcPts val="2250"/>
              </a:spcAft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"Organizations using AI see 40% productivity gains"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672013" y="4007495"/>
            <a:ext cx="379997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lets join the transformation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76250"/>
            <a:ext cx="584873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spcAft>
                <a:spcPts val="1875"/>
              </a:spcAft>
              <a:buNone/>
            </a:pPr>
            <a:r>
              <a:rPr lang="en-US" sz="28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What IS Artificial Intelligence?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1934242" y="1076325"/>
            <a:ext cx="5275517" cy="317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 Machines Human-Like Abilities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66750" y="1584275"/>
            <a:ext cx="3714750" cy="13652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333"/>
              </a:lnSpc>
              <a:spcAft>
                <a:spcPts val="105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Learning from experience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105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Reasoning through problems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105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Understanding language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62500" y="1584275"/>
            <a:ext cx="3714750" cy="13652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333"/>
              </a:lnSpc>
              <a:spcAft>
                <a:spcPts val="105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 Recognizing patterns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105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Making decisions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105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Adapting to situations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6750" y="3187601"/>
            <a:ext cx="7810500" cy="76200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85800" y="3187601"/>
            <a:ext cx="0" cy="762000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840867" y="3435251"/>
            <a:ext cx="75003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i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solves problems like humans, but faster and at scale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63737" y="476250"/>
            <a:ext cx="421652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spcAft>
                <a:spcPts val="2625"/>
              </a:spcAft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AI in Your Daily Life</a:t>
            </a:r>
            <a:endParaRPr lang="en-US" sz="3000" dirty="0"/>
          </a:p>
        </p:txBody>
      </p:sp>
      <p:pic>
        <p:nvPicPr>
          <p:cNvPr id="3" name="Image 0" descr="/tmp/rasterized-gradient-8207e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190625"/>
            <a:ext cx="3786188" cy="712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2629" y="1400175"/>
            <a:ext cx="343442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Face recognition</a:t>
            </a:r>
            <a:endParaRPr lang="en-US" sz="1650" dirty="0"/>
          </a:p>
        </p:txBody>
      </p:sp>
      <p:pic>
        <p:nvPicPr>
          <p:cNvPr id="5" name="Image 1" descr="/tmp/rasterized-gradient-a9f19b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063" y="1190625"/>
            <a:ext cx="3786188" cy="7124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66942" y="1400175"/>
            <a:ext cx="343442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🎵 Spotify</a:t>
            </a:r>
            <a:endParaRPr lang="en-US" sz="1650" dirty="0"/>
          </a:p>
        </p:txBody>
      </p:sp>
      <p:pic>
        <p:nvPicPr>
          <p:cNvPr id="7" name="Image 2" descr="/tmp/rasterized-gradient-da6e819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2141190"/>
            <a:ext cx="3786188" cy="7124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2629" y="2350740"/>
            <a:ext cx="343442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Google Maps</a:t>
            </a:r>
            <a:endParaRPr lang="en-US" sz="1650" dirty="0"/>
          </a:p>
        </p:txBody>
      </p:sp>
      <p:pic>
        <p:nvPicPr>
          <p:cNvPr id="9" name="Image 3" descr="/tmp/rasterized-gradient-1870803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1063" y="2141190"/>
            <a:ext cx="3786188" cy="7124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866942" y="2350740"/>
            <a:ext cx="343442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Amazon</a:t>
            </a:r>
            <a:endParaRPr lang="en-US" sz="1650" dirty="0"/>
          </a:p>
        </p:txBody>
      </p:sp>
      <p:pic>
        <p:nvPicPr>
          <p:cNvPr id="11" name="Image 4" descr="/tmp/rasterized-gradient-4c61f48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3091755"/>
            <a:ext cx="3786188" cy="7124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42629" y="3301305"/>
            <a:ext cx="343442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Netflix</a:t>
            </a:r>
            <a:endParaRPr lang="en-US" sz="1650" dirty="0"/>
          </a:p>
        </p:txBody>
      </p:sp>
      <p:pic>
        <p:nvPicPr>
          <p:cNvPr id="13" name="Image 5" descr="/tmp/rasterized-gradient-0dd7b3b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1063" y="3091755"/>
            <a:ext cx="3786188" cy="71244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866942" y="3301305"/>
            <a:ext cx="343442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Virtual assistants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28625"/>
            <a:ext cx="39930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650"/>
              </a:spcAft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AI Success Stories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6750" y="981075"/>
            <a:ext cx="3993071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7"/>
              </a:lnSpc>
              <a:spcBef>
                <a:spcPts val="750"/>
              </a:spcBef>
              <a:spcAft>
                <a:spcPts val="1050"/>
              </a:spcAft>
              <a:buNone/>
            </a:pPr>
            <a:r>
              <a:rPr lang="en-US" sz="17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2016-2020: Breakthrough Years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666750" y="1357759"/>
            <a:ext cx="7810500" cy="113347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675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AlphaGo (2016):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Strategic thinking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675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Tesla (2017):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Autonomous driving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675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Medical AI (2018):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Cancer detection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66750" y="2586484"/>
            <a:ext cx="3993071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7"/>
              </a:lnSpc>
              <a:spcBef>
                <a:spcPts val="750"/>
              </a:spcBef>
              <a:spcAft>
                <a:spcPts val="1050"/>
              </a:spcAft>
              <a:buNone/>
            </a:pPr>
            <a:r>
              <a:rPr lang="en-US" sz="17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2021-2024: Democratization Era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666750" y="2963168"/>
            <a:ext cx="7810500" cy="113347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675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ChatGPT (2022):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for everyone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675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DALL-E (2023):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Creative AI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675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Climate AI (2024):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Energy grids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6750" y="4096643"/>
            <a:ext cx="7810500" cy="62091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85800" y="4096643"/>
            <a:ext cx="0" cy="620911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857250" y="4287143"/>
            <a:ext cx="761695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AI system aligned with human needs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76250"/>
            <a:ext cx="547954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Machine Learning: Teaching Computers to Learn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575465" y="1524000"/>
            <a:ext cx="3993071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33"/>
              </a:lnSpc>
              <a:spcAft>
                <a:spcPts val="1875"/>
              </a:spcAft>
              <a:buNone/>
            </a:pPr>
            <a:r>
              <a:rPr lang="en-US" sz="2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Learning Process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66750" y="2058442"/>
            <a:ext cx="7810500" cy="1927771"/>
          </a:xfrm>
          <a:prstGeom prst="roundRect">
            <a:avLst>
              <a:gd name="adj" fmla="val 4941"/>
            </a:avLst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0110" y="2382292"/>
            <a:ext cx="7383780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Training Data </a:t>
            </a:r>
            <a:r>
              <a:rPr lang="en-US" sz="2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🔍 Find Patterns </a:t>
            </a:r>
            <a:r>
              <a:rPr lang="en-US" sz="2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🧪 Test &amp; Validate 
</a:t>
            </a:r>
            <a:r>
              <a:rPr lang="en-US" sz="2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2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  <a:p>
            <a:pPr marL="0" indent="0" algn="ctr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0" indent="0" algn="ctr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🔄 Improve </a:t>
            </a:r>
            <a:r>
              <a:rPr lang="en-US" sz="2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✨ Make Predictions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7044" y="476250"/>
            <a:ext cx="61499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spcAft>
                <a:spcPts val="3000"/>
              </a:spcAft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Types of Machine Learning</a:t>
            </a:r>
            <a:endParaRPr lang="en-US" sz="3000" dirty="0"/>
          </a:p>
        </p:txBody>
      </p:sp>
      <p:pic>
        <p:nvPicPr>
          <p:cNvPr id="3" name="Image 0" descr="/tmp/rasterized-gradient-e5d9cb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238250"/>
            <a:ext cx="2230785" cy="37040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3690" y="1524000"/>
            <a:ext cx="1476756" cy="592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33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👨‍🏫 Supervised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52500" y="2459534"/>
            <a:ext cx="1659285" cy="219700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detection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diagnosis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prediction</a:t>
            </a:r>
            <a:endParaRPr lang="en-US" sz="1500" dirty="0"/>
          </a:p>
        </p:txBody>
      </p:sp>
      <p:pic>
        <p:nvPicPr>
          <p:cNvPr id="6" name="Image 1" descr="/tmp/rasterized-gradient-43cc46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3285" y="1534567"/>
            <a:ext cx="2569369" cy="31114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64428" y="1820317"/>
            <a:ext cx="1807083" cy="592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33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🕵️ Unsupervised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3469035" y="2755850"/>
            <a:ext cx="1997869" cy="1604367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segments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500" dirty="0"/>
          </a:p>
        </p:txBody>
      </p:sp>
      <p:pic>
        <p:nvPicPr>
          <p:cNvPr id="9" name="Image 2" descr="/tmp/rasterized-gradient-94f67e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8404" y="1534567"/>
            <a:ext cx="2438846" cy="31114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05480" y="1820317"/>
            <a:ext cx="1904693" cy="592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33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Reinforcement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6324154" y="2755850"/>
            <a:ext cx="1867346" cy="1604367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playing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systems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76250"/>
            <a:ext cx="60819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Natural Language Processing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6750" y="1143000"/>
            <a:ext cx="190423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spcAft>
                <a:spcPts val="1350"/>
              </a:spcAft>
              <a:buNone/>
            </a:pPr>
            <a:r>
              <a:rPr lang="en-US" sz="19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66750" y="1741884"/>
            <a:ext cx="3714750" cy="208344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217"/>
              </a:lnSpc>
              <a:spcAft>
                <a:spcPts val="825"/>
              </a:spcAft>
              <a:buSzPct val="100000"/>
              <a:buChar char="•"/>
            </a:pPr>
            <a:r>
              <a:rPr lang="en-US" sz="14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Reading &amp; Understanding</a:t>
            </a:r>
            <a:endParaRPr lang="en-US" sz="1425" dirty="0"/>
          </a:p>
          <a:p>
            <a:pPr marL="85725" indent="-85725" algn="l">
              <a:lnSpc>
                <a:spcPts val="2217"/>
              </a:lnSpc>
              <a:spcAft>
                <a:spcPts val="825"/>
              </a:spcAft>
              <a:buSzPct val="100000"/>
              <a:buChar char="•"/>
            </a:pPr>
            <a:r>
              <a:rPr lang="en-US" sz="14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Translation (100+ languages)</a:t>
            </a:r>
            <a:endParaRPr lang="en-US" sz="1425" dirty="0"/>
          </a:p>
          <a:p>
            <a:pPr marL="85725" indent="-85725" algn="l">
              <a:lnSpc>
                <a:spcPts val="2217"/>
              </a:lnSpc>
              <a:spcAft>
                <a:spcPts val="825"/>
              </a:spcAft>
              <a:buSzPct val="100000"/>
              <a:buChar char="•"/>
            </a:pPr>
            <a:r>
              <a:rPr lang="en-US" sz="14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💭 Sentiment Analysis</a:t>
            </a:r>
            <a:endParaRPr lang="en-US" sz="1425" dirty="0"/>
          </a:p>
          <a:p>
            <a:pPr marL="85725" indent="-85725" algn="l">
              <a:lnSpc>
                <a:spcPts val="2217"/>
              </a:lnSpc>
              <a:spcAft>
                <a:spcPts val="825"/>
              </a:spcAft>
              <a:buSzPct val="100000"/>
              <a:buChar char="•"/>
            </a:pPr>
            <a:r>
              <a:rPr lang="en-US" sz="14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Content Generation</a:t>
            </a:r>
            <a:endParaRPr lang="en-US" sz="1425" dirty="0"/>
          </a:p>
          <a:p>
            <a:pPr marL="85725" indent="-85725" algn="l">
              <a:lnSpc>
                <a:spcPts val="2217"/>
              </a:lnSpc>
              <a:spcAft>
                <a:spcPts val="825"/>
              </a:spcAft>
              <a:buSzPct val="100000"/>
              <a:buChar char="•"/>
            </a:pPr>
            <a:r>
              <a:rPr lang="en-US" sz="14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Summarization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4762500" y="1143000"/>
            <a:ext cx="190423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spcAft>
                <a:spcPts val="1350"/>
              </a:spcAft>
              <a:buNone/>
            </a:pPr>
            <a:r>
              <a:rPr lang="en-US" sz="19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762500" y="1741884"/>
            <a:ext cx="3714750" cy="208344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217"/>
              </a:lnSpc>
              <a:spcAft>
                <a:spcPts val="825"/>
              </a:spcAft>
              <a:buSzPct val="100000"/>
              <a:buChar char="•"/>
            </a:pPr>
            <a:r>
              <a:rPr lang="en-US" sz="14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Translate</a:t>
            </a:r>
            <a:endParaRPr lang="en-US" sz="1425" dirty="0"/>
          </a:p>
          <a:p>
            <a:pPr marL="85725" indent="-85725" algn="l">
              <a:lnSpc>
                <a:spcPts val="2217"/>
              </a:lnSpc>
              <a:spcAft>
                <a:spcPts val="825"/>
              </a:spcAft>
              <a:buSzPct val="100000"/>
              <a:buChar char="•"/>
            </a:pPr>
            <a:r>
              <a:rPr lang="en-US" sz="14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Alexa/Siri</a:t>
            </a:r>
            <a:endParaRPr lang="en-US" sz="1425" dirty="0"/>
          </a:p>
          <a:p>
            <a:pPr marL="85725" indent="-85725" algn="l">
              <a:lnSpc>
                <a:spcPts val="2217"/>
              </a:lnSpc>
              <a:spcAft>
                <a:spcPts val="825"/>
              </a:spcAft>
              <a:buSzPct val="100000"/>
              <a:buChar char="•"/>
            </a:pPr>
            <a:r>
              <a:rPr lang="en-US" sz="14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Smart Compose</a:t>
            </a:r>
            <a:endParaRPr lang="en-US" sz="1425" dirty="0"/>
          </a:p>
          <a:p>
            <a:pPr marL="85725" indent="-85725" algn="l">
              <a:lnSpc>
                <a:spcPts val="2217"/>
              </a:lnSpc>
              <a:spcAft>
                <a:spcPts val="825"/>
              </a:spcAft>
              <a:buSzPct val="100000"/>
              <a:buChar char="•"/>
            </a:pPr>
            <a:r>
              <a:rPr lang="en-US" sz="14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 Bots</a:t>
            </a:r>
            <a:endParaRPr lang="en-US" sz="1425" dirty="0"/>
          </a:p>
          <a:p>
            <a:pPr marL="85725" indent="-85725" algn="l">
              <a:lnSpc>
                <a:spcPts val="2217"/>
              </a:lnSpc>
              <a:spcAft>
                <a:spcPts val="825"/>
              </a:spcAft>
              <a:buSzPct val="100000"/>
              <a:buChar char="•"/>
            </a:pPr>
            <a:r>
              <a:rPr lang="en-US" sz="14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Analysis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666750" y="4063454"/>
            <a:ext cx="7810500" cy="68580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85800" y="4063454"/>
            <a:ext cx="0" cy="685800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802005" y="4273004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Computers understand meaning and context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76250"/>
            <a:ext cx="7772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2625"/>
              </a:spcAft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Generative AI: The Creative Revolution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6750" y="1190625"/>
            <a:ext cx="1943100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33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Capabilities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66750" y="1829842"/>
            <a:ext cx="3714750" cy="2205484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original content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billions of examples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in seconds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Adapts to your style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Iterates instantly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62500" y="1190625"/>
            <a:ext cx="2069402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33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Technology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762500" y="1829842"/>
            <a:ext cx="3714750" cy="2205484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- Attention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Training - Internet-scale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Randomness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- Specialized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8182" y="476250"/>
            <a:ext cx="62276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spcAft>
                <a:spcPts val="2625"/>
              </a:spcAft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Real Tools You Can Use Today</a:t>
            </a:r>
            <a:endParaRPr lang="en-US" sz="3000" dirty="0"/>
          </a:p>
        </p:txBody>
      </p:sp>
      <p:pic>
        <p:nvPicPr>
          <p:cNvPr id="3" name="Image 0" descr="/tmp/rasterized-gradient-af2248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190625"/>
            <a:ext cx="7810500" cy="10349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4875" y="1381125"/>
            <a:ext cx="3750183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Generation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04875" y="1730276"/>
            <a:ext cx="7480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• Claude • Gemini • Llama</a:t>
            </a:r>
            <a:endParaRPr lang="en-US" sz="1500" dirty="0"/>
          </a:p>
        </p:txBody>
      </p:sp>
      <p:pic>
        <p:nvPicPr>
          <p:cNvPr id="6" name="Image 1" descr="/tmp/rasterized-gradient-5034d7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2463701"/>
            <a:ext cx="7810500" cy="10349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4875" y="2654201"/>
            <a:ext cx="3750183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Creation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04875" y="3003352"/>
            <a:ext cx="7480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DALL-E 3 • Midjourney • Stable Diffusion</a:t>
            </a:r>
            <a:endParaRPr lang="en-US" sz="1500" dirty="0"/>
          </a:p>
        </p:txBody>
      </p:sp>
      <p:pic>
        <p:nvPicPr>
          <p:cNvPr id="9" name="Image 2" descr="/tmp/rasterized-gradient-3228e78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3736777"/>
            <a:ext cx="7810500" cy="103495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4875" y="3927277"/>
            <a:ext cx="3750183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904875" y="4276427"/>
            <a:ext cx="7480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• Murf.ai • RunwayML • Notion AI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61376" y="428625"/>
            <a:ext cx="542124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spcAft>
                <a:spcPts val="2100"/>
              </a:spcAft>
              <a:buNone/>
            </a:pPr>
            <a:r>
              <a:rPr lang="en-US" sz="28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Traditional vs Generative AI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66750" y="1057275"/>
            <a:ext cx="3762375" cy="2492276"/>
          </a:xfrm>
          <a:prstGeom prst="roundRect">
            <a:avLst>
              <a:gd name="adj" fmla="val 3822"/>
            </a:avLst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635895" y="1266825"/>
            <a:ext cx="1824085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Traditional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76300" y="1816001"/>
            <a:ext cx="3343275" cy="1524000"/>
          </a:xfrm>
          <a:prstGeom prst="rect">
            <a:avLst/>
          </a:prstGeom>
          <a:noFill/>
          <a:ln/>
        </p:spPr>
        <p:txBody>
          <a:bodyPr wrap="square" lIns="80963" tIns="0" rIns="0" bIns="0" rtlCol="0" anchor="t"/>
          <a:lstStyle/>
          <a:p>
            <a:pPr marL="80963" indent="-80963" algn="l">
              <a:lnSpc>
                <a:spcPts val="2100"/>
              </a:lnSpc>
              <a:spcAft>
                <a:spcPts val="675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Understand &amp; Predict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spcAft>
                <a:spcPts val="675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Insights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spcAft>
                <a:spcPts val="675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Netflix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spcAft>
                <a:spcPts val="675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Accuracy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14875" y="1057275"/>
            <a:ext cx="3762375" cy="2492276"/>
          </a:xfrm>
          <a:prstGeom prst="roundRect">
            <a:avLst>
              <a:gd name="adj" fmla="val 3822"/>
            </a:avLst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70813" y="1266825"/>
            <a:ext cx="185049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Generative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24425" y="1816001"/>
            <a:ext cx="3343275" cy="1524000"/>
          </a:xfrm>
          <a:prstGeom prst="rect">
            <a:avLst/>
          </a:prstGeom>
          <a:noFill/>
          <a:ln/>
        </p:spPr>
        <p:txBody>
          <a:bodyPr wrap="square" lIns="80963" tIns="0" rIns="0" bIns="0" rtlCol="0" anchor="t"/>
          <a:lstStyle/>
          <a:p>
            <a:pPr marL="80963" indent="-80963" algn="l">
              <a:lnSpc>
                <a:spcPts val="2100"/>
              </a:lnSpc>
              <a:spcAft>
                <a:spcPts val="675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&amp; Generate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spcAft>
                <a:spcPts val="675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Content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spcAft>
                <a:spcPts val="675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ChatGPT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spcAft>
                <a:spcPts val="675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Creativity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76250"/>
            <a:ext cx="4692587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2625"/>
              </a:spcAft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Large Language Models: The Powerhouse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6750" y="1571625"/>
            <a:ext cx="3585020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33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LLMs Powerful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66750" y="2210842"/>
            <a:ext cx="3714750" cy="2205484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Scale: Trillions of words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Parameters: Billions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Context: Understanding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Transfer Learning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Versatility: Multiple tasks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62500" y="1571625"/>
            <a:ext cx="1904238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33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LLMs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762500" y="2210842"/>
            <a:ext cx="3714750" cy="2205484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</a:t>
            </a: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OpenAI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Anthropic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Google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</a:t>
            </a: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Meta</a:t>
            </a:r>
            <a:endParaRPr lang="en-US" sz="1500" dirty="0"/>
          </a:p>
          <a:p>
            <a:pPr marL="85725" indent="-85725" algn="l">
              <a:lnSpc>
                <a:spcPts val="2333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</a:t>
            </a: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European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1923" y="428625"/>
            <a:ext cx="58001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Your AI Transformation Mindset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6750" y="1076325"/>
            <a:ext cx="3752850" cy="2539901"/>
          </a:xfrm>
          <a:prstGeom prst="roundRect">
            <a:avLst>
              <a:gd name="adj" fmla="val 3750"/>
            </a:avLst>
          </a:prstGeom>
          <a:solidFill>
            <a:srgbClr val="E74C3C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85800" y="1076325"/>
            <a:ext cx="0" cy="2539901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914400" y="1285875"/>
            <a:ext cx="1787652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Old Thinking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44576"/>
            <a:ext cx="3295650" cy="1562100"/>
          </a:xfrm>
          <a:prstGeom prst="rect">
            <a:avLst/>
          </a:prstGeom>
          <a:noFill/>
          <a:ln/>
        </p:spPr>
        <p:txBody>
          <a:bodyPr wrap="square" lIns="80963" tIns="0" rIns="0" bIns="0" rtlCol="0" anchor="t"/>
          <a:lstStyle/>
          <a:p>
            <a:pPr marL="80963" indent="-80963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will replace me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too complicated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lose my job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and see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24400" y="1076325"/>
            <a:ext cx="3752850" cy="2539901"/>
          </a:xfrm>
          <a:prstGeom prst="roundRect">
            <a:avLst>
              <a:gd name="adj" fmla="val 3750"/>
            </a:avLst>
          </a:prstGeom>
          <a:solidFill>
            <a:srgbClr val="2ECC71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43450" y="1076325"/>
            <a:ext cx="0" cy="2539901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4972050" y="1285875"/>
            <a:ext cx="187509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New Thinking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72050" y="1844576"/>
            <a:ext cx="3295650" cy="1562100"/>
          </a:xfrm>
          <a:prstGeom prst="rect">
            <a:avLst/>
          </a:prstGeom>
          <a:noFill/>
          <a:ln/>
        </p:spPr>
        <p:txBody>
          <a:bodyPr wrap="square" lIns="80963" tIns="0" rIns="0" bIns="0" rtlCol="0" anchor="t"/>
          <a:lstStyle/>
          <a:p>
            <a:pPr marL="80963" indent="-80963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amplifies abilities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learn basics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more valuable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now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8645" y="3825776"/>
            <a:ext cx="79667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165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Expertise + AI = Unstoppable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45622" y="476250"/>
            <a:ext cx="605275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spcAft>
                <a:spcPts val="2625"/>
              </a:spcAft>
              <a:buNone/>
            </a:pPr>
            <a:r>
              <a:rPr lang="en-US" sz="28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AI Makes Everyone a Specialist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66750" y="1171575"/>
            <a:ext cx="213741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spcAft>
                <a:spcPts val="1350"/>
              </a:spcAft>
              <a:buNone/>
            </a:pPr>
            <a:r>
              <a:rPr lang="en-US" sz="19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Professionals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66750" y="1770459"/>
            <a:ext cx="3714750" cy="2009775"/>
          </a:xfrm>
          <a:prstGeom prst="rect">
            <a:avLst/>
          </a:prstGeom>
          <a:noFill/>
          <a:ln/>
        </p:spPr>
        <p:txBody>
          <a:bodyPr wrap="square" lIns="90488" tIns="0" rIns="0" bIns="0" rtlCol="0" anchor="t"/>
          <a:lstStyle/>
          <a:p>
            <a:pPr marL="90488" indent="-90488" algn="l">
              <a:lnSpc>
                <a:spcPts val="2100"/>
              </a:lnSpc>
              <a:spcAft>
                <a:spcPts val="82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Marketers become Data analysts</a:t>
            </a:r>
            <a:endParaRPr lang="en-US" sz="1350" dirty="0"/>
          </a:p>
          <a:p>
            <a:pPr marL="90488" indent="-90488" algn="l">
              <a:lnSpc>
                <a:spcPts val="2100"/>
              </a:lnSpc>
              <a:spcAft>
                <a:spcPts val="82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Teachers become Tutors</a:t>
            </a:r>
            <a:endParaRPr lang="en-US" sz="1350" dirty="0"/>
          </a:p>
          <a:p>
            <a:pPr marL="90488" indent="-90488" algn="l">
              <a:lnSpc>
                <a:spcPts val="2100"/>
              </a:lnSpc>
              <a:spcAft>
                <a:spcPts val="82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Writers become Content machines</a:t>
            </a:r>
            <a:endParaRPr lang="en-US" sz="1350" dirty="0"/>
          </a:p>
          <a:p>
            <a:pPr marL="90488" indent="-90488" algn="l">
              <a:lnSpc>
                <a:spcPts val="2100"/>
              </a:lnSpc>
              <a:spcAft>
                <a:spcPts val="82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Designers become Directors</a:t>
            </a:r>
            <a:endParaRPr lang="en-US" sz="1350" dirty="0"/>
          </a:p>
          <a:p>
            <a:pPr marL="90488" indent="-90488" algn="l">
              <a:lnSpc>
                <a:spcPts val="2100"/>
              </a:lnSpc>
              <a:spcAft>
                <a:spcPts val="82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become Strategists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62500" y="1171575"/>
            <a:ext cx="190423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spcAft>
                <a:spcPts val="1350"/>
              </a:spcAft>
              <a:buNone/>
            </a:pPr>
            <a:r>
              <a:rPr lang="en-US" sz="19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762500" y="1770459"/>
            <a:ext cx="3714750" cy="2009775"/>
          </a:xfrm>
          <a:prstGeom prst="rect">
            <a:avLst/>
          </a:prstGeom>
          <a:noFill/>
          <a:ln/>
        </p:spPr>
        <p:txBody>
          <a:bodyPr wrap="square" lIns="90488" tIns="0" rIns="0" bIns="0" rtlCol="0" anchor="t"/>
          <a:lstStyle/>
          <a:p>
            <a:pPr marL="90488" indent="-90488" algn="l">
              <a:lnSpc>
                <a:spcPts val="2100"/>
              </a:lnSpc>
              <a:spcAft>
                <a:spcPts val="82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become Researchers</a:t>
            </a:r>
            <a:endParaRPr lang="en-US" sz="1350" dirty="0"/>
          </a:p>
          <a:p>
            <a:pPr marL="90488" indent="-90488" algn="l">
              <a:lnSpc>
                <a:spcPts val="2100"/>
              </a:lnSpc>
              <a:spcAft>
                <a:spcPts val="82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become Guides</a:t>
            </a:r>
            <a:endParaRPr lang="en-US" sz="1350" dirty="0"/>
          </a:p>
          <a:p>
            <a:pPr marL="90488" indent="-90488" algn="l">
              <a:lnSpc>
                <a:spcPts val="2100"/>
              </a:lnSpc>
              <a:spcAft>
                <a:spcPts val="82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Entrepreneurs become Teams</a:t>
            </a:r>
            <a:endParaRPr lang="en-US" sz="1350" dirty="0"/>
          </a:p>
          <a:p>
            <a:pPr marL="90488" indent="-90488" algn="l">
              <a:lnSpc>
                <a:spcPts val="2100"/>
              </a:lnSpc>
              <a:spcAft>
                <a:spcPts val="82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Hobbyists become Creators</a:t>
            </a:r>
            <a:endParaRPr lang="en-US" sz="1350" dirty="0"/>
          </a:p>
          <a:p>
            <a:pPr marL="90488" indent="-90488" algn="l">
              <a:lnSpc>
                <a:spcPts val="2100"/>
              </a:lnSpc>
              <a:spcAft>
                <a:spcPts val="82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becomes Solver</a:t>
            </a:r>
            <a:endParaRPr lang="en-US" sz="1350" dirty="0"/>
          </a:p>
        </p:txBody>
      </p:sp>
      <p:pic>
        <p:nvPicPr>
          <p:cNvPr id="7" name="Image 0" descr="/tmp/rasterized-gradient-f5d025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4046934"/>
            <a:ext cx="7810500" cy="712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" y="4256484"/>
            <a:ext cx="761695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democratizes expertise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76250"/>
            <a:ext cx="54892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2625"/>
              </a:spcAft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Navigating AI Responsibly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6750" y="1190625"/>
            <a:ext cx="3714750" cy="3172867"/>
          </a:xfrm>
          <a:prstGeom prst="roundRect">
            <a:avLst>
              <a:gd name="adj" fmla="val 3002"/>
            </a:avLst>
          </a:prstGeom>
          <a:solidFill>
            <a:srgbClr val="E74C3C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85800" y="1190625"/>
            <a:ext cx="0" cy="3172867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942975" y="1428750"/>
            <a:ext cx="1952816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33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Risks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42975" y="2067967"/>
            <a:ext cx="3200400" cy="20574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Over-dependence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Misinformation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concerns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bias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displacement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62500" y="1190625"/>
            <a:ext cx="3714750" cy="3172867"/>
          </a:xfrm>
          <a:prstGeom prst="roundRect">
            <a:avLst>
              <a:gd name="adj" fmla="val 3002"/>
            </a:avLst>
          </a:prstGeom>
          <a:solidFill>
            <a:srgbClr val="2ECC71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81550" y="1190625"/>
            <a:ext cx="0" cy="3172867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5038725" y="1428750"/>
            <a:ext cx="2516315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33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Strategy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038725" y="2067967"/>
            <a:ext cx="3200400" cy="20574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AI output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critical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learning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data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tool, not crutch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37435" y="428625"/>
            <a:ext cx="446913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spcAft>
                <a:spcPts val="1875"/>
              </a:spcAft>
              <a:buNone/>
            </a:pPr>
            <a:r>
              <a:rPr lang="en-US" sz="28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🌊 The Exponential Wave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66750" y="1028700"/>
            <a:ext cx="7810500" cy="723900"/>
          </a:xfrm>
          <a:prstGeom prst="roundRect">
            <a:avLst>
              <a:gd name="adj" fmla="val 13158"/>
            </a:avLst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2955" y="1257300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→ Printing → Electricity → Internet → AI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6750" y="1990725"/>
            <a:ext cx="2584323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Happening Now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6750" y="2549426"/>
            <a:ext cx="3738563" cy="1562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doubling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democratization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transformation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job categories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38688" y="1990725"/>
            <a:ext cx="2263712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Coming Next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38688" y="2549426"/>
            <a:ext cx="3738563" cy="1562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Intuitive interfaces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Hyper-personalization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AI-human collaboration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explosion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8645" y="4321076"/>
            <a:ext cx="79667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1650"/>
              </a:spcBef>
              <a:spcAft>
                <a:spcPts val="300"/>
              </a:spcAft>
              <a:buNone/>
            </a:pPr>
            <a:r>
              <a:rPr lang="en-US" sz="1500" b="1" i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part of history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9100" y="476250"/>
            <a:ext cx="52658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spcAft>
                <a:spcPts val="2625"/>
              </a:spcAft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🎪 Interactive AI Exploration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6750" y="1190625"/>
            <a:ext cx="7810500" cy="3772942"/>
          </a:xfrm>
          <a:prstGeom prst="roundRect">
            <a:avLst>
              <a:gd name="adj" fmla="val 2525"/>
            </a:avLst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85800" y="1190625"/>
            <a:ext cx="0" cy="3772942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990600" y="1476375"/>
            <a:ext cx="4430268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33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1: Explanation Challenge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90600" y="1963192"/>
            <a:ext cx="734491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75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16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ChatGPT to explain "inflation" to: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76350" y="2420392"/>
            <a:ext cx="6915150" cy="1638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10-year-old child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 school student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economics professor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policy maker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4249192"/>
            <a:ext cx="73449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sz="15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how AI adapts its style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9100" y="476250"/>
            <a:ext cx="52658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spcAft>
                <a:spcPts val="2625"/>
              </a:spcAft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🎪 Interactive AI Exploration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6750" y="1190625"/>
            <a:ext cx="7810500" cy="2477542"/>
          </a:xfrm>
          <a:prstGeom prst="roundRect">
            <a:avLst>
              <a:gd name="adj" fmla="val 3845"/>
            </a:avLst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85800" y="1190625"/>
            <a:ext cx="0" cy="2477542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990600" y="1476375"/>
            <a:ext cx="4848035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33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2: Professional Applications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76350" y="1963192"/>
            <a:ext cx="6915150" cy="1419225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marL="104775" indent="-104775" algn="l">
              <a:lnSpc>
                <a:spcPts val="2025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"Analyze GST and inflation relationship for policy recommendations"</a:t>
            </a:r>
            <a:endParaRPr lang="en-US" sz="1350" dirty="0"/>
          </a:p>
          <a:p>
            <a:pPr marL="104775" indent="-104775" algn="l">
              <a:lnSpc>
                <a:spcPts val="2025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GenAI lesson plan for business students"</a:t>
            </a:r>
            <a:endParaRPr lang="en-US" sz="1350" dirty="0"/>
          </a:p>
          <a:p>
            <a:pPr marL="104775" indent="-104775" algn="l">
              <a:lnSpc>
                <a:spcPts val="2025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"Draft AI regulation policy brief for government officials"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28625"/>
            <a:ext cx="457600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spcAft>
                <a:spcPts val="2250"/>
              </a:spcAft>
              <a:buNone/>
            </a:pPr>
            <a:r>
              <a:rPr lang="en-US" sz="28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Your Learning Journey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66750" y="1281113"/>
            <a:ext cx="2195703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spcAft>
                <a:spcPts val="1350"/>
              </a:spcAft>
              <a:buNone/>
            </a:pPr>
            <a:r>
              <a:rPr lang="en-US" sz="19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Courses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66750" y="1879997"/>
            <a:ext cx="3738563" cy="1600200"/>
          </a:xfrm>
          <a:prstGeom prst="rect">
            <a:avLst/>
          </a:prstGeom>
          <a:noFill/>
          <a:ln/>
        </p:spPr>
        <p:txBody>
          <a:bodyPr wrap="square" lIns="90488" tIns="0" rIns="0" bIns="0" rtlCol="0" anchor="t"/>
          <a:lstStyle/>
          <a:p>
            <a:pPr marL="90488" indent="-90488" algn="l">
              <a:lnSpc>
                <a:spcPts val="2100"/>
              </a:lnSpc>
              <a:spcAft>
                <a:spcPts val="82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Fast.ai</a:t>
            </a:r>
            <a:endParaRPr lang="en-US" sz="1350" dirty="0"/>
          </a:p>
          <a:p>
            <a:pPr marL="90488" indent="-90488" algn="l">
              <a:lnSpc>
                <a:spcPts val="2100"/>
              </a:lnSpc>
              <a:spcAft>
                <a:spcPts val="82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DeepLearning.AI</a:t>
            </a:r>
            <a:endParaRPr lang="en-US" sz="1350" dirty="0"/>
          </a:p>
          <a:p>
            <a:pPr marL="90488" indent="-90488" algn="l">
              <a:lnSpc>
                <a:spcPts val="2100"/>
              </a:lnSpc>
              <a:spcAft>
                <a:spcPts val="82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Google AI</a:t>
            </a:r>
            <a:endParaRPr lang="en-US" sz="1350" dirty="0"/>
          </a:p>
          <a:p>
            <a:pPr marL="90488" indent="-90488" algn="l">
              <a:lnSpc>
                <a:spcPts val="2100"/>
              </a:lnSpc>
              <a:spcAft>
                <a:spcPts val="82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OpenAI Cookbook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38688" y="1076325"/>
            <a:ext cx="191395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spcAft>
                <a:spcPts val="1350"/>
              </a:spcAft>
              <a:buNone/>
            </a:pPr>
            <a:r>
              <a:rPr lang="en-US" sz="19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Must-Try Tools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738688" y="1675209"/>
            <a:ext cx="3738563" cy="2009775"/>
          </a:xfrm>
          <a:prstGeom prst="rect">
            <a:avLst/>
          </a:prstGeom>
          <a:noFill/>
          <a:ln/>
        </p:spPr>
        <p:txBody>
          <a:bodyPr wrap="square" lIns="90488" tIns="0" rIns="0" bIns="0" rtlCol="0" anchor="t"/>
          <a:lstStyle/>
          <a:p>
            <a:pPr marL="90488" indent="-90488" algn="l">
              <a:lnSpc>
                <a:spcPts val="2100"/>
              </a:lnSpc>
              <a:spcAft>
                <a:spcPts val="82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350" dirty="0"/>
          </a:p>
          <a:p>
            <a:pPr marL="90488" indent="-90488" algn="l">
              <a:lnSpc>
                <a:spcPts val="2100"/>
              </a:lnSpc>
              <a:spcAft>
                <a:spcPts val="82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350" dirty="0"/>
          </a:p>
          <a:p>
            <a:pPr marL="90488" indent="-90488" algn="l">
              <a:lnSpc>
                <a:spcPts val="2100"/>
              </a:lnSpc>
              <a:spcAft>
                <a:spcPts val="82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Midjourney</a:t>
            </a:r>
            <a:endParaRPr lang="en-US" sz="1350" dirty="0"/>
          </a:p>
          <a:p>
            <a:pPr marL="90488" indent="-90488" algn="l">
              <a:lnSpc>
                <a:spcPts val="2100"/>
              </a:lnSpc>
              <a:spcAft>
                <a:spcPts val="82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1350" dirty="0"/>
          </a:p>
          <a:p>
            <a:pPr marL="90488" indent="-90488" algn="l">
              <a:lnSpc>
                <a:spcPts val="2100"/>
              </a:lnSpc>
              <a:spcAft>
                <a:spcPts val="82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6750" y="3923109"/>
            <a:ext cx="7810500" cy="68580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85800" y="3923109"/>
            <a:ext cx="0" cy="685800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802005" y="4132659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Pick ONE tool and use it daily!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5465" y="428625"/>
            <a:ext cx="39930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575465" y="962025"/>
            <a:ext cx="3993071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33"/>
              </a:lnSpc>
              <a:spcAft>
                <a:spcPts val="1650"/>
              </a:spcAft>
              <a:buNone/>
            </a:pPr>
            <a:r>
              <a:rPr lang="en-US" sz="2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Success Formula</a:t>
            </a:r>
            <a:endParaRPr lang="en-US" sz="2100" dirty="0"/>
          </a:p>
        </p:txBody>
      </p:sp>
      <p:pic>
        <p:nvPicPr>
          <p:cNvPr id="4" name="Image 0" descr="/tmp/rasterized-gradient-fcb9f4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467892"/>
            <a:ext cx="7810500" cy="5962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6300" y="1639342"/>
            <a:ext cx="7539228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 is collaboration, not replacement</a:t>
            </a:r>
            <a:endParaRPr lang="en-US" sz="1425" dirty="0"/>
          </a:p>
        </p:txBody>
      </p:sp>
      <p:pic>
        <p:nvPicPr>
          <p:cNvPr id="6" name="Image 1" descr="/tmp/rasterized-gradient-8eaede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2178397"/>
            <a:ext cx="7810500" cy="5962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6300" y="2349847"/>
            <a:ext cx="7539228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Start small, experiment, scale</a:t>
            </a:r>
            <a:endParaRPr lang="en-US" sz="1425" dirty="0"/>
          </a:p>
        </p:txBody>
      </p:sp>
      <p:pic>
        <p:nvPicPr>
          <p:cNvPr id="8" name="Image 2" descr="/tmp/rasterized-gradient-d53201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2888903"/>
            <a:ext cx="7810500" cy="59620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76300" y="3060353"/>
            <a:ext cx="7539228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Augment your unique skills</a:t>
            </a:r>
            <a:endParaRPr lang="en-US" sz="1425" dirty="0"/>
          </a:p>
        </p:txBody>
      </p:sp>
      <p:pic>
        <p:nvPicPr>
          <p:cNvPr id="10" name="Image 3" descr="/tmp/rasterized-gradient-df9226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3599408"/>
            <a:ext cx="7810500" cy="5962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76300" y="3770858"/>
            <a:ext cx="7539228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Stay curious and critical</a:t>
            </a:r>
            <a:endParaRPr lang="en-US" sz="1425" dirty="0"/>
          </a:p>
        </p:txBody>
      </p:sp>
      <p:sp>
        <p:nvSpPr>
          <p:cNvPr id="12" name="Text 6"/>
          <p:cNvSpPr/>
          <p:nvPr/>
        </p:nvSpPr>
        <p:spPr>
          <a:xfrm>
            <a:off x="588645" y="4405164"/>
            <a:ext cx="7966710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5"/>
              </a:lnSpc>
              <a:spcBef>
                <a:spcPts val="1650"/>
              </a:spcBef>
              <a:spcAft>
                <a:spcPts val="300"/>
              </a:spcAft>
              <a:buNone/>
            </a:pPr>
            <a:r>
              <a:rPr lang="en-US" sz="1575" b="1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best time is now</a:t>
            </a:r>
            <a:endParaRPr lang="en-US" sz="15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16041" y="522089"/>
            <a:ext cx="29119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2250"/>
              </a:spcAft>
              <a:buNone/>
            </a:pPr>
            <a:r>
              <a:rPr lang="en-US" sz="4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628205" y="1341239"/>
            <a:ext cx="58874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spcAft>
                <a:spcPts val="30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Let's Explore Together!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283939" y="2141339"/>
            <a:ext cx="257597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zasghar@qau.edu.pk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48336" y="2642295"/>
            <a:ext cx="30473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QAU Website: qau.edu.pk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68055" y="3486150"/>
            <a:ext cx="540789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Bef>
                <a:spcPts val="3000"/>
              </a:spcBef>
              <a:spcAft>
                <a:spcPts val="2250"/>
              </a:spcAft>
              <a:buNone/>
            </a:pPr>
            <a:r>
              <a:rPr lang="en-US" sz="1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future belongs to those who learn AI today"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247415" y="4156621"/>
            <a:ext cx="464917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Your AI Journey Starts Now!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1189</Words>
  <Application>Microsoft Office PowerPoint</Application>
  <PresentationFormat>On-screen Show (16:9)</PresentationFormat>
  <Paragraphs>268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Quaid-i-Azam University,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AI Revolution</dc:title>
  <dc:subject>AI Revolution - GenAI Made Simple</dc:subject>
  <dc:creator>Prof. Dr. Zahid Asghar</dc:creator>
  <cp:lastModifiedBy>Prof. Dr. Zahid Asghar</cp:lastModifiedBy>
  <cp:revision>2</cp:revision>
  <dcterms:created xsi:type="dcterms:W3CDTF">2025-11-03T16:54:38Z</dcterms:created>
  <dcterms:modified xsi:type="dcterms:W3CDTF">2025-11-06T01:52:06Z</dcterms:modified>
</cp:coreProperties>
</file>